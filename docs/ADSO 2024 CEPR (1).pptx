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Work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9nSwrdn8EHYHf0QdPldfe+Ij1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WorkSans-bold.fntdata"/><Relationship Id="rId21" Type="http://schemas.openxmlformats.org/officeDocument/2006/relationships/font" Target="fonts/WorkSans-regular.fntdata"/><Relationship Id="rId24" Type="http://schemas.openxmlformats.org/officeDocument/2006/relationships/font" Target="fonts/WorkSans-boldItalic.fntdata"/><Relationship Id="rId23" Type="http://schemas.openxmlformats.org/officeDocument/2006/relationships/font" Target="fonts/Work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Utilice esta diapositiva para incluir tablas y gráficos.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Utilice esta diapositiva para incluir tablas y gráficos.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Utilice esta diapositiva para incluir tablas y gráficos.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Utilice esta diapositiva para incluir tablas y gráficos.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Utilice esta diapositiva para incluir tablas y gráficos.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Utilice esta diapositiva para incluir tablas y gráficos.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149" name="Google Shape;1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Utilice esta diapositiva para incluir tablas y gráficos.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200" name="Google Shape;2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Utilice esta diapositiva para incluir tablas y gráficos.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245" name="Google Shape;24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Utilice esta diapositiva para incluir tablas y gráficos.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253" name="Google Shape;25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Utilice esta diapositiva para incluir tablas y gráficos.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261" name="Google Shape;26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d6cd30d308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d6cd30d308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2d6cd30d308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d6cd30d308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d6cd30d308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2d6cd30d308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d6cd30d308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d6cd30d308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2d6cd30d308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ación">
  <p:cSld name="1_Comparació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 txBox="1"/>
          <p:nvPr/>
        </p:nvSpPr>
        <p:spPr>
          <a:xfrm>
            <a:off x="2555912" y="857789"/>
            <a:ext cx="817625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ES" sz="48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SERVICIO NACIONAL DE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625098" y="2984002"/>
            <a:ext cx="10941803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ES" sz="4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Centro de Servicios Empresariales y Turísticos – CSET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ES" sz="4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Ficha 2993128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2555912" y="857789"/>
            <a:ext cx="8176255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ES" sz="48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GUÍA PARA PRESENTAR PROYECTO DE SOFTWARE ADSO.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1309037" y="3645722"/>
            <a:ext cx="9221001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ES" sz="4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Análisis y Desarrollo de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/>
        </p:nvSpPr>
        <p:spPr>
          <a:xfrm>
            <a:off x="281087" y="414541"/>
            <a:ext cx="965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-E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INTEGRAL MAI SHOP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1317525" y="2628700"/>
            <a:ext cx="9655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ES" sz="2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Desarrollo e Implementación de una Solución Tecnológica Integral para la Gestión Empresarial de una Pastelería Artesanal, Optimizando Procesos de Venta y Facturación: Caso de Estudio Mai Shop</a:t>
            </a:r>
            <a:endParaRPr b="1" sz="2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650928" y="1760744"/>
            <a:ext cx="1098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/>
        </p:nvSpPr>
        <p:spPr>
          <a:xfrm>
            <a:off x="288758" y="112301"/>
            <a:ext cx="104383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095750" y="2648900"/>
            <a:ext cx="10000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ES" sz="2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Mai Shop busca revolucionar la manera en que gestiona sus pedidos y facturas. Este proyecto tiene como objetivo desarrollar un sistema personalizado que permita optimizar sus procesos, reducir errores y mejorar la experiencia de su equipo de trabajo. Al centralizar toda la información en una única plataforma, Mai Shop podrá tomar decisiones más informadas y crecer de manera sostenible.</a:t>
            </a:r>
            <a:endParaRPr b="1" sz="28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/>
        </p:nvSpPr>
        <p:spPr>
          <a:xfrm>
            <a:off x="234587" y="182091"/>
            <a:ext cx="96551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Analistas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574675" y="2561277"/>
            <a:ext cx="112116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Maira Alejandra Sierra David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574687" y="2437357"/>
            <a:ext cx="1121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100" u="none" cap="none" strike="noStrik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PERFIL PROFESIONAL: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574663" y="4671664"/>
            <a:ext cx="1121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Estudiante de Análisis y </a:t>
            </a:r>
            <a:r>
              <a:rPr b="1" lang="es-ES" sz="3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</a:t>
            </a:r>
            <a:r>
              <a:rPr b="1" i="0" lang="es-ES" sz="3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esarrollo en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574675" y="4022429"/>
            <a:ext cx="1121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100" u="none" cap="none" strike="noStrik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PERFIL PROFESIONAL: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/>
        </p:nvSpPr>
        <p:spPr>
          <a:xfrm>
            <a:off x="234587" y="182091"/>
            <a:ext cx="96551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Justificación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830700" y="2283300"/>
            <a:ext cx="10530600" cy="31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2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 un sector tan competitivo como la repostería, Mai Shop necesita ofrecer un servicio rápido, organizado y de calidad. Actualmente, los procesos manuales pueden generar errores en los pedidos y retrasos en las entregas. Por eso, implementar un sistema de gestión permitirá optimizar las operaciones, reducir fallas, mejorar la atención al cliente y fortalecer la fidelidad de los compradores. Esta mejora también contribuirá al crecimiento sostenible y a una mejor imagen del negocio. </a:t>
            </a:r>
            <a:endParaRPr b="1" i="0" sz="2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/>
        </p:nvSpPr>
        <p:spPr>
          <a:xfrm>
            <a:off x="234587" y="182091"/>
            <a:ext cx="96551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Definición del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1949300" y="2784200"/>
            <a:ext cx="8560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1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Problema: Se busca implementar un sistema que optimice los procesos internos de Mai Shop y mejore la experiencia del </a:t>
            </a:r>
            <a:r>
              <a:rPr b="1" lang="es-ES" sz="2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usuario</a:t>
            </a:r>
            <a:endParaRPr i="0" sz="2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/>
        </p:nvSpPr>
        <p:spPr>
          <a:xfrm>
            <a:off x="234587" y="182091"/>
            <a:ext cx="96551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Árbol del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8"/>
          <p:cNvCxnSpPr/>
          <p:nvPr/>
        </p:nvCxnSpPr>
        <p:spPr>
          <a:xfrm>
            <a:off x="6336279" y="3443710"/>
            <a:ext cx="0" cy="144462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8"/>
          <p:cNvCxnSpPr/>
          <p:nvPr/>
        </p:nvCxnSpPr>
        <p:spPr>
          <a:xfrm>
            <a:off x="4162044" y="3227810"/>
            <a:ext cx="0" cy="2159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8"/>
          <p:cNvSpPr txBox="1"/>
          <p:nvPr/>
        </p:nvSpPr>
        <p:spPr>
          <a:xfrm>
            <a:off x="5062156" y="1775715"/>
            <a:ext cx="2520900" cy="288900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7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Pérdida de ventas</a:t>
            </a:r>
            <a:endParaRPr b="0" i="0" sz="17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8"/>
          <p:cNvCxnSpPr/>
          <p:nvPr/>
        </p:nvCxnSpPr>
        <p:spPr>
          <a:xfrm>
            <a:off x="8483219" y="3229397"/>
            <a:ext cx="0" cy="214313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8"/>
          <p:cNvCxnSpPr/>
          <p:nvPr/>
        </p:nvCxnSpPr>
        <p:spPr>
          <a:xfrm>
            <a:off x="4162057" y="3443710"/>
            <a:ext cx="4321200" cy="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8"/>
          <p:cNvSpPr txBox="1"/>
          <p:nvPr/>
        </p:nvSpPr>
        <p:spPr>
          <a:xfrm>
            <a:off x="7348675" y="2856900"/>
            <a:ext cx="2305200" cy="446400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u="none" cap="none" strike="noStrike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Demoras en las entregas y pedidos</a:t>
            </a:r>
            <a:endParaRPr b="0" i="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8"/>
          <p:cNvCxnSpPr/>
          <p:nvPr/>
        </p:nvCxnSpPr>
        <p:spPr>
          <a:xfrm>
            <a:off x="4162044" y="2577697"/>
            <a:ext cx="0" cy="2160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8"/>
          <p:cNvSpPr txBox="1"/>
          <p:nvPr/>
        </p:nvSpPr>
        <p:spPr>
          <a:xfrm>
            <a:off x="7041769" y="2415010"/>
            <a:ext cx="2790900" cy="301500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ES" sz="1700" u="none" cap="none" strike="noStrike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Insatisfacción del cliente</a:t>
            </a:r>
            <a:endParaRPr b="0" i="0" sz="17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8"/>
          <p:cNvCxnSpPr/>
          <p:nvPr/>
        </p:nvCxnSpPr>
        <p:spPr>
          <a:xfrm>
            <a:off x="8483219" y="2724572"/>
            <a:ext cx="0" cy="2159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8"/>
          <p:cNvCxnSpPr/>
          <p:nvPr/>
        </p:nvCxnSpPr>
        <p:spPr>
          <a:xfrm>
            <a:off x="4162044" y="2211810"/>
            <a:ext cx="4321200" cy="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8"/>
          <p:cNvCxnSpPr/>
          <p:nvPr/>
        </p:nvCxnSpPr>
        <p:spPr>
          <a:xfrm>
            <a:off x="4162044" y="2211810"/>
            <a:ext cx="0" cy="2160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8"/>
          <p:cNvCxnSpPr>
            <a:stCxn id="154" idx="2"/>
          </p:cNvCxnSpPr>
          <p:nvPr/>
        </p:nvCxnSpPr>
        <p:spPr>
          <a:xfrm>
            <a:off x="6322606" y="2064615"/>
            <a:ext cx="0" cy="1287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8"/>
          <p:cNvSpPr txBox="1"/>
          <p:nvPr/>
        </p:nvSpPr>
        <p:spPr>
          <a:xfrm>
            <a:off x="2570817" y="2358688"/>
            <a:ext cx="3477000" cy="219000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700" u="none" cap="none" strike="noStrike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Pérdida de insumos</a:t>
            </a:r>
            <a:endParaRPr b="0" i="0" sz="170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2857789" y="2791593"/>
            <a:ext cx="2608500" cy="222300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700" u="none" cap="none" strike="noStrike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Reembolso</a:t>
            </a:r>
            <a:endParaRPr b="0" i="0" sz="170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8580509" y="3624685"/>
            <a:ext cx="1152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EFECTOS</a:t>
            </a:r>
            <a:endParaRPr b="1" i="0" sz="16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8691136" y="3372272"/>
            <a:ext cx="215900" cy="215900"/>
          </a:xfrm>
          <a:prstGeom prst="upArrow">
            <a:avLst>
              <a:gd fmla="val 50000" name="adj1"/>
              <a:gd fmla="val 25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4482763" y="3529050"/>
            <a:ext cx="3777000" cy="504900"/>
          </a:xfrm>
          <a:prstGeom prst="rect">
            <a:avLst/>
          </a:prstGeom>
          <a:solidFill>
            <a:srgbClr val="FFFF00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ES" sz="19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ineficiencia en la gestión de </a:t>
            </a:r>
            <a:r>
              <a:rPr lang="es-ES" sz="1900">
                <a:solidFill>
                  <a:srgbClr val="C00000"/>
                </a:solidFill>
              </a:rPr>
              <a:t>ventas</a:t>
            </a:r>
            <a:endParaRPr b="0" i="0" sz="19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1930019" y="3704060"/>
            <a:ext cx="223202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PROBLEMA CENTRAL</a:t>
            </a:r>
            <a:endParaRPr b="1" i="0" sz="16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8"/>
          <p:cNvCxnSpPr/>
          <p:nvPr/>
        </p:nvCxnSpPr>
        <p:spPr>
          <a:xfrm>
            <a:off x="2524882" y="4308897"/>
            <a:ext cx="6048300" cy="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8"/>
          <p:cNvCxnSpPr/>
          <p:nvPr/>
        </p:nvCxnSpPr>
        <p:spPr>
          <a:xfrm>
            <a:off x="5386007" y="4329535"/>
            <a:ext cx="0" cy="195262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8"/>
          <p:cNvSpPr txBox="1"/>
          <p:nvPr/>
        </p:nvSpPr>
        <p:spPr>
          <a:xfrm>
            <a:off x="4235069" y="4524797"/>
            <a:ext cx="2232025" cy="544513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7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Falta de sistema integrado </a:t>
            </a:r>
            <a:endParaRPr b="0" i="0" sz="17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8"/>
          <p:cNvCxnSpPr/>
          <p:nvPr/>
        </p:nvCxnSpPr>
        <p:spPr>
          <a:xfrm>
            <a:off x="8501282" y="4308910"/>
            <a:ext cx="0" cy="2160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8"/>
          <p:cNvSpPr txBox="1"/>
          <p:nvPr/>
        </p:nvSpPr>
        <p:spPr>
          <a:xfrm>
            <a:off x="7240632" y="4559072"/>
            <a:ext cx="2159100" cy="538200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800" u="none" cap="none" strike="noStrike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Escasa visibilidad de la información</a:t>
            </a:r>
            <a:endParaRPr b="0" i="0" sz="180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8"/>
          <p:cNvCxnSpPr/>
          <p:nvPr/>
        </p:nvCxnSpPr>
        <p:spPr>
          <a:xfrm>
            <a:off x="2134616" y="5223298"/>
            <a:ext cx="0" cy="151451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p8"/>
          <p:cNvCxnSpPr/>
          <p:nvPr/>
        </p:nvCxnSpPr>
        <p:spPr>
          <a:xfrm>
            <a:off x="3944557" y="5243935"/>
            <a:ext cx="1587" cy="123825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8"/>
          <p:cNvCxnSpPr/>
          <p:nvPr/>
        </p:nvCxnSpPr>
        <p:spPr>
          <a:xfrm>
            <a:off x="2134616" y="5223298"/>
            <a:ext cx="1823021" cy="5144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8"/>
          <p:cNvCxnSpPr/>
          <p:nvPr/>
        </p:nvCxnSpPr>
        <p:spPr>
          <a:xfrm rot="10800000">
            <a:off x="2938082" y="5028035"/>
            <a:ext cx="0" cy="2159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8"/>
          <p:cNvCxnSpPr/>
          <p:nvPr/>
        </p:nvCxnSpPr>
        <p:spPr>
          <a:xfrm>
            <a:off x="2938082" y="4308897"/>
            <a:ext cx="0" cy="2159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8"/>
          <p:cNvSpPr txBox="1"/>
          <p:nvPr/>
        </p:nvSpPr>
        <p:spPr>
          <a:xfrm>
            <a:off x="1785557" y="4524797"/>
            <a:ext cx="2305050" cy="522288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0800" lIns="91425" spcFirstLastPara="1" rIns="91425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7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Métodos manuales</a:t>
            </a:r>
            <a:r>
              <a:rPr b="0" i="0" lang="es-ES" sz="15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5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4882780" y="5388400"/>
            <a:ext cx="1823100" cy="792300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6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Ausencia de un repositorio central de datos</a:t>
            </a:r>
            <a:endParaRPr b="0" i="0" sz="16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7127975" y="5514375"/>
            <a:ext cx="2520900" cy="646200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700" u="none" cap="none" strike="noStrike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Dificultad para tomar decisiones basada en datos</a:t>
            </a:r>
            <a:endParaRPr b="0" i="0" sz="170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3159208" y="5405165"/>
            <a:ext cx="1584325" cy="792163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7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Uso de hojas de cálculo </a:t>
            </a:r>
            <a:endParaRPr b="0" i="0" sz="17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1504174" y="5413082"/>
            <a:ext cx="1223963" cy="792163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8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Iliquidez</a:t>
            </a:r>
            <a:endParaRPr b="0" i="0" sz="18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9089975" y="3905672"/>
            <a:ext cx="92726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CAUSAS</a:t>
            </a:r>
            <a:endParaRPr b="1" i="0" sz="16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9399730" y="4182514"/>
            <a:ext cx="217488" cy="215900"/>
          </a:xfrm>
          <a:prstGeom prst="downArrow">
            <a:avLst>
              <a:gd fmla="val 50000" name="adj1"/>
              <a:gd fmla="val 25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8"/>
          <p:cNvCxnSpPr/>
          <p:nvPr/>
        </p:nvCxnSpPr>
        <p:spPr>
          <a:xfrm>
            <a:off x="6333956" y="4119291"/>
            <a:ext cx="0" cy="189606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8"/>
          <p:cNvCxnSpPr/>
          <p:nvPr/>
        </p:nvCxnSpPr>
        <p:spPr>
          <a:xfrm>
            <a:off x="5386007" y="5085824"/>
            <a:ext cx="0" cy="288925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8"/>
          <p:cNvCxnSpPr/>
          <p:nvPr/>
        </p:nvCxnSpPr>
        <p:spPr>
          <a:xfrm>
            <a:off x="8483219" y="2211810"/>
            <a:ext cx="0" cy="2159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8"/>
          <p:cNvSpPr/>
          <p:nvPr/>
        </p:nvSpPr>
        <p:spPr>
          <a:xfrm rot="5400000">
            <a:off x="4201369" y="3689772"/>
            <a:ext cx="215900" cy="215900"/>
          </a:xfrm>
          <a:prstGeom prst="upArrow">
            <a:avLst>
              <a:gd fmla="val 50000" name="adj1"/>
              <a:gd fmla="val 25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5329025" y="1230975"/>
            <a:ext cx="2014500" cy="43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Pérdida económica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8"/>
          <p:cNvCxnSpPr/>
          <p:nvPr/>
        </p:nvCxnSpPr>
        <p:spPr>
          <a:xfrm>
            <a:off x="6312731" y="1647015"/>
            <a:ext cx="0" cy="1287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8"/>
          <p:cNvSpPr txBox="1"/>
          <p:nvPr/>
        </p:nvSpPr>
        <p:spPr>
          <a:xfrm>
            <a:off x="5329025" y="686225"/>
            <a:ext cx="2014500" cy="44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700" u="none" cap="none" strike="noStrike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Quiebra </a:t>
            </a:r>
            <a:endParaRPr b="0" i="0" sz="170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8"/>
          <p:cNvCxnSpPr/>
          <p:nvPr/>
        </p:nvCxnSpPr>
        <p:spPr>
          <a:xfrm>
            <a:off x="6312731" y="1082240"/>
            <a:ext cx="0" cy="1287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8"/>
          <p:cNvSpPr txBox="1"/>
          <p:nvPr/>
        </p:nvSpPr>
        <p:spPr>
          <a:xfrm>
            <a:off x="2857789" y="3117643"/>
            <a:ext cx="2608500" cy="222300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700" u="none" cap="none" strike="noStrike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Incidencia comercia</a:t>
            </a:r>
            <a:r>
              <a:rPr b="0" i="0" lang="es-ES" sz="1600" u="none" cap="none" strike="noStrike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160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p8"/>
          <p:cNvCxnSpPr/>
          <p:nvPr/>
        </p:nvCxnSpPr>
        <p:spPr>
          <a:xfrm>
            <a:off x="8483232" y="5161387"/>
            <a:ext cx="0" cy="2889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 txBox="1"/>
          <p:nvPr/>
        </p:nvSpPr>
        <p:spPr>
          <a:xfrm>
            <a:off x="234587" y="182091"/>
            <a:ext cx="96551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Árbol del Objetivos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p9"/>
          <p:cNvCxnSpPr/>
          <p:nvPr/>
        </p:nvCxnSpPr>
        <p:spPr>
          <a:xfrm>
            <a:off x="6336279" y="3443710"/>
            <a:ext cx="0" cy="144462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9"/>
          <p:cNvCxnSpPr/>
          <p:nvPr/>
        </p:nvCxnSpPr>
        <p:spPr>
          <a:xfrm>
            <a:off x="4162044" y="3227810"/>
            <a:ext cx="0" cy="2159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9"/>
          <p:cNvSpPr txBox="1"/>
          <p:nvPr/>
        </p:nvSpPr>
        <p:spPr>
          <a:xfrm>
            <a:off x="4658225" y="910400"/>
            <a:ext cx="3356100" cy="913500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500">
                <a:solidFill>
                  <a:srgbClr val="000066"/>
                </a:solidFill>
              </a:rPr>
              <a:t>Aumentar la rentabilidad del negocio a través de la optimización de la </a:t>
            </a:r>
            <a:r>
              <a:rPr lang="es-ES" sz="1500">
                <a:solidFill>
                  <a:srgbClr val="000066"/>
                </a:solidFill>
              </a:rPr>
              <a:t>gestión de ventas</a:t>
            </a:r>
            <a:endParaRPr b="0" i="0" sz="15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9"/>
          <p:cNvCxnSpPr/>
          <p:nvPr/>
        </p:nvCxnSpPr>
        <p:spPr>
          <a:xfrm>
            <a:off x="8483219" y="3229397"/>
            <a:ext cx="0" cy="214313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9"/>
          <p:cNvCxnSpPr/>
          <p:nvPr/>
        </p:nvCxnSpPr>
        <p:spPr>
          <a:xfrm>
            <a:off x="4162044" y="3443710"/>
            <a:ext cx="4321175" cy="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9"/>
          <p:cNvSpPr txBox="1"/>
          <p:nvPr/>
        </p:nvSpPr>
        <p:spPr>
          <a:xfrm>
            <a:off x="7308400" y="2922900"/>
            <a:ext cx="3356100" cy="314400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Reducir los errores en los pedidos</a:t>
            </a:r>
            <a:endParaRPr b="0" i="0" sz="170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9"/>
          <p:cNvCxnSpPr/>
          <p:nvPr/>
        </p:nvCxnSpPr>
        <p:spPr>
          <a:xfrm>
            <a:off x="4162044" y="2724572"/>
            <a:ext cx="0" cy="2159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9"/>
          <p:cNvSpPr txBox="1"/>
          <p:nvPr/>
        </p:nvSpPr>
        <p:spPr>
          <a:xfrm>
            <a:off x="7041777" y="2415000"/>
            <a:ext cx="3528900" cy="301500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000066"/>
                </a:solidFill>
              </a:rPr>
              <a:t>Aumentar la satisfacción del cliente </a:t>
            </a:r>
            <a:endParaRPr b="0" i="0" sz="17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9"/>
          <p:cNvCxnSpPr/>
          <p:nvPr/>
        </p:nvCxnSpPr>
        <p:spPr>
          <a:xfrm>
            <a:off x="8483219" y="2724572"/>
            <a:ext cx="0" cy="2159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9"/>
          <p:cNvCxnSpPr/>
          <p:nvPr/>
        </p:nvCxnSpPr>
        <p:spPr>
          <a:xfrm>
            <a:off x="4162044" y="2211810"/>
            <a:ext cx="4321175" cy="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9"/>
          <p:cNvCxnSpPr/>
          <p:nvPr/>
        </p:nvCxnSpPr>
        <p:spPr>
          <a:xfrm>
            <a:off x="4162044" y="2211810"/>
            <a:ext cx="0" cy="2159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9"/>
          <p:cNvCxnSpPr/>
          <p:nvPr/>
        </p:nvCxnSpPr>
        <p:spPr>
          <a:xfrm>
            <a:off x="6322631" y="1905866"/>
            <a:ext cx="0" cy="287337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9"/>
          <p:cNvSpPr txBox="1"/>
          <p:nvPr/>
        </p:nvSpPr>
        <p:spPr>
          <a:xfrm>
            <a:off x="1930019" y="2415010"/>
            <a:ext cx="4608513" cy="309562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Mejorar la eficiencia de los procesos</a:t>
            </a:r>
            <a:r>
              <a:rPr lang="es-ES" sz="1600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2433257" y="2940472"/>
            <a:ext cx="3457575" cy="314325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800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incrementar las ventas </a:t>
            </a:r>
            <a:endParaRPr b="0" i="0" sz="180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8325259" y="3661197"/>
            <a:ext cx="115252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FINES</a:t>
            </a:r>
            <a:endParaRPr b="1" i="0" sz="16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8691136" y="3372272"/>
            <a:ext cx="215900" cy="215900"/>
          </a:xfrm>
          <a:prstGeom prst="upArrow">
            <a:avLst>
              <a:gd fmla="val 50000" name="adj1"/>
              <a:gd fmla="val 25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4560970" y="3599385"/>
            <a:ext cx="3529012" cy="504825"/>
          </a:xfrm>
          <a:prstGeom prst="rect">
            <a:avLst/>
          </a:prstGeom>
          <a:solidFill>
            <a:srgbClr val="FFFF00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6000" lIns="91425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1800">
                <a:solidFill>
                  <a:srgbClr val="C00000"/>
                </a:solidFill>
              </a:rPr>
              <a:t>Optimización en la gestión de proceso de venta</a:t>
            </a:r>
            <a:endParaRPr b="0" i="0" sz="18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1930019" y="3704060"/>
            <a:ext cx="223202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OBJETIVO CENTRAL</a:t>
            </a:r>
            <a:endParaRPr b="1" i="0" sz="16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9"/>
          <p:cNvCxnSpPr/>
          <p:nvPr/>
        </p:nvCxnSpPr>
        <p:spPr>
          <a:xfrm>
            <a:off x="2938082" y="4308897"/>
            <a:ext cx="6048300" cy="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9"/>
          <p:cNvSpPr txBox="1"/>
          <p:nvPr/>
        </p:nvSpPr>
        <p:spPr>
          <a:xfrm>
            <a:off x="5146732" y="4533072"/>
            <a:ext cx="2232000" cy="544500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000066"/>
                </a:solidFill>
              </a:rPr>
              <a:t>Migración del sistema</a:t>
            </a:r>
            <a:endParaRPr b="0" i="0" sz="17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9"/>
          <p:cNvCxnSpPr/>
          <p:nvPr/>
        </p:nvCxnSpPr>
        <p:spPr>
          <a:xfrm>
            <a:off x="8986457" y="4308897"/>
            <a:ext cx="0" cy="2159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9"/>
          <p:cNvCxnSpPr/>
          <p:nvPr/>
        </p:nvCxnSpPr>
        <p:spPr>
          <a:xfrm>
            <a:off x="2134616" y="5223298"/>
            <a:ext cx="0" cy="151451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9"/>
          <p:cNvCxnSpPr/>
          <p:nvPr/>
        </p:nvCxnSpPr>
        <p:spPr>
          <a:xfrm>
            <a:off x="3944557" y="5243935"/>
            <a:ext cx="1587" cy="123825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9"/>
          <p:cNvCxnSpPr/>
          <p:nvPr/>
        </p:nvCxnSpPr>
        <p:spPr>
          <a:xfrm>
            <a:off x="2134616" y="5223298"/>
            <a:ext cx="1823021" cy="5144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p9"/>
          <p:cNvCxnSpPr/>
          <p:nvPr/>
        </p:nvCxnSpPr>
        <p:spPr>
          <a:xfrm rot="10800000">
            <a:off x="2938082" y="5028035"/>
            <a:ext cx="0" cy="2159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9"/>
          <p:cNvCxnSpPr/>
          <p:nvPr/>
        </p:nvCxnSpPr>
        <p:spPr>
          <a:xfrm>
            <a:off x="2938082" y="4308897"/>
            <a:ext cx="0" cy="2159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9"/>
          <p:cNvSpPr txBox="1"/>
          <p:nvPr/>
        </p:nvSpPr>
        <p:spPr>
          <a:xfrm>
            <a:off x="1785557" y="4524797"/>
            <a:ext cx="2305050" cy="522288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0800" lIns="91425" spcFirstLastPara="1" rIns="91425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000066"/>
                </a:solidFill>
              </a:rPr>
              <a:t>Configuración del sistema</a:t>
            </a:r>
            <a:endParaRPr b="0" i="0" sz="17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5351175" y="5301750"/>
            <a:ext cx="1823100" cy="1474800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>
                <a:solidFill>
                  <a:srgbClr val="000066"/>
                </a:solidFill>
              </a:rPr>
              <a:t>Transferir los datos existentes de clientes, productos, pedidos y ventas al nuevo sistema </a:t>
            </a:r>
            <a:endParaRPr b="0" i="0" sz="16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 txBox="1"/>
          <p:nvPr/>
        </p:nvSpPr>
        <p:spPr>
          <a:xfrm>
            <a:off x="3029425" y="5383225"/>
            <a:ext cx="2232000" cy="1164900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>
                <a:solidFill>
                  <a:srgbClr val="000066"/>
                </a:solidFill>
              </a:rPr>
              <a:t>Integrar el sistema con otras herramientas que ya </a:t>
            </a:r>
            <a:r>
              <a:rPr lang="es-ES" sz="1600">
                <a:solidFill>
                  <a:srgbClr val="000066"/>
                </a:solidFill>
              </a:rPr>
              <a:t>utilizó</a:t>
            </a:r>
            <a:r>
              <a:rPr lang="es-ES" sz="1600">
                <a:solidFill>
                  <a:srgbClr val="000066"/>
                </a:solidFill>
              </a:rPr>
              <a:t>(correo, contabilidad, etc)</a:t>
            </a:r>
            <a:endParaRPr b="0" i="0" sz="16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1355375" y="5404675"/>
            <a:ext cx="1584300" cy="1006500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500">
                <a:solidFill>
                  <a:srgbClr val="000066"/>
                </a:solidFill>
              </a:rPr>
              <a:t>Personalizar el sistema para que se adapte a los procesos</a:t>
            </a:r>
            <a:r>
              <a:rPr lang="es-ES">
                <a:solidFill>
                  <a:srgbClr val="000066"/>
                </a:solidFill>
              </a:rPr>
              <a:t> </a:t>
            </a:r>
            <a:endParaRPr b="0" i="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9089975" y="3905672"/>
            <a:ext cx="92726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MEDIOS</a:t>
            </a:r>
            <a:endParaRPr b="1" i="0" sz="1600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9399730" y="4182514"/>
            <a:ext cx="217488" cy="215900"/>
          </a:xfrm>
          <a:prstGeom prst="downArrow">
            <a:avLst>
              <a:gd fmla="val 50000" name="adj1"/>
              <a:gd fmla="val 25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7593775" y="4499325"/>
            <a:ext cx="2976900" cy="544500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800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Eliminar tareas </a:t>
            </a:r>
            <a:r>
              <a:rPr lang="es-ES" sz="1800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automáticas</a:t>
            </a:r>
            <a:endParaRPr b="0" i="0" sz="180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7870450" y="5234250"/>
            <a:ext cx="2575500" cy="1164900"/>
          </a:xfrm>
          <a:prstGeom prst="rect">
            <a:avLst/>
          </a:prstGeom>
          <a:solidFill>
            <a:srgbClr val="B3C6E7"/>
          </a:solidFill>
          <a:ln cap="flat" cmpd="sng" w="28575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0800" lIns="18000" spcFirstLastPara="1" rIns="18000" wrap="square" tIns="1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000066"/>
                </a:solidFill>
                <a:latin typeface="Calibri"/>
                <a:ea typeface="Calibri"/>
                <a:cs typeface="Calibri"/>
                <a:sym typeface="Calibri"/>
              </a:rPr>
              <a:t>Identificar y eliminar tareas que se realizan de forma manual y que pueden ser automatizadas</a:t>
            </a:r>
            <a:endParaRPr b="0" i="0" sz="170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9"/>
          <p:cNvCxnSpPr/>
          <p:nvPr/>
        </p:nvCxnSpPr>
        <p:spPr>
          <a:xfrm>
            <a:off x="6333956" y="4119291"/>
            <a:ext cx="0" cy="1896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9"/>
          <p:cNvCxnSpPr/>
          <p:nvPr/>
        </p:nvCxnSpPr>
        <p:spPr>
          <a:xfrm>
            <a:off x="8986457" y="4991524"/>
            <a:ext cx="0" cy="2889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9"/>
          <p:cNvCxnSpPr/>
          <p:nvPr/>
        </p:nvCxnSpPr>
        <p:spPr>
          <a:xfrm>
            <a:off x="6322607" y="4978999"/>
            <a:ext cx="0" cy="2889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9"/>
          <p:cNvCxnSpPr/>
          <p:nvPr/>
        </p:nvCxnSpPr>
        <p:spPr>
          <a:xfrm>
            <a:off x="8483219" y="2211810"/>
            <a:ext cx="0" cy="215900"/>
          </a:xfrm>
          <a:prstGeom prst="straightConnector1">
            <a:avLst/>
          </a:prstGeom>
          <a:noFill/>
          <a:ln cap="flat" cmpd="sng" w="28575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9"/>
          <p:cNvSpPr/>
          <p:nvPr/>
        </p:nvSpPr>
        <p:spPr>
          <a:xfrm rot="5400000">
            <a:off x="4201369" y="3689772"/>
            <a:ext cx="215900" cy="215900"/>
          </a:xfrm>
          <a:prstGeom prst="upArrow">
            <a:avLst>
              <a:gd fmla="val 50000" name="adj1"/>
              <a:gd fmla="val 25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"/>
          <p:cNvSpPr txBox="1"/>
          <p:nvPr/>
        </p:nvSpPr>
        <p:spPr>
          <a:xfrm>
            <a:off x="234587" y="182091"/>
            <a:ext cx="96551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574675" y="1852679"/>
            <a:ext cx="11211685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General: Responde a la pregunta: “¿qué se quiere conseguir con lo que se va a implementar?”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1810800" y="3252200"/>
            <a:ext cx="85704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ES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Optimizar la experiencia de compra de nuestros clientes mediante la implementación de un sistema que centralizará la información de pedidos y facturas, facilitando el seguimiento y la resolución de incidencias.</a:t>
            </a:r>
            <a:endParaRPr b="1"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 txBox="1"/>
          <p:nvPr/>
        </p:nvSpPr>
        <p:spPr>
          <a:xfrm>
            <a:off x="234587" y="182091"/>
            <a:ext cx="96551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574663" y="1666704"/>
            <a:ext cx="1121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Específicos: pueden ser técnicos y del negocio.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694200" y="2282300"/>
            <a:ext cx="108036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1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OE1:</a:t>
            </a:r>
            <a:r>
              <a:rPr b="1" i="0" lang="es-ES" sz="2100" u="none" cap="none" strike="noStrik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s-ES" sz="2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Diseñar una arquitectura de software escalable y flexible que soporte las operaciones actuales y futuras de Mai Shop.</a:t>
            </a:r>
            <a:endParaRPr b="1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1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OE2: </a:t>
            </a:r>
            <a:r>
              <a:rPr b="1" lang="es-ES" sz="2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Desarrollar un módulo de gestión de pedidos que permita la captura, seguimiento y actualización en tiempo real del estado de los pedidos.</a:t>
            </a:r>
            <a:endParaRPr b="1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1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OE3: </a:t>
            </a:r>
            <a:r>
              <a:rPr b="1" lang="es-ES" sz="2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Implantar un sistema de inventario que permita controlar los niveles de stock, generar alertas de reposición y optimizar la gestión de los productos.</a:t>
            </a:r>
            <a:endParaRPr b="1" i="0" sz="2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1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OE4: </a:t>
            </a:r>
            <a:r>
              <a:rPr b="1" lang="es-ES" sz="2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Integrar un módulo de facturación electrónica que permita generar facturas de manera automática, con los datos fiscales correspondientes y cumpliendo con la normativa vigente.</a:t>
            </a:r>
            <a:endParaRPr b="1" sz="21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ES" sz="21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OE5:</a:t>
            </a:r>
            <a:r>
              <a:rPr b="1" lang="es-ES" sz="2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Configurar un panel de control intuitivo que permita a los usuarios visualizar reportes de ventas, analizar el comportamiento de los clientes y tomar decisiones basadas en datos.</a:t>
            </a:r>
            <a:endParaRPr b="1" sz="30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 txBox="1"/>
          <p:nvPr/>
        </p:nvSpPr>
        <p:spPr>
          <a:xfrm>
            <a:off x="234587" y="182091"/>
            <a:ext cx="96551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Marco Referencial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574638" y="1459304"/>
            <a:ext cx="11211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1" sz="3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Herramientas, métodos y técnicas utilizadas para el desarrollo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 txBox="1"/>
          <p:nvPr/>
        </p:nvSpPr>
        <p:spPr>
          <a:xfrm>
            <a:off x="490199" y="3121595"/>
            <a:ext cx="112116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ES" sz="210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Marco Conceptual</a:t>
            </a:r>
            <a:endParaRPr b="1" sz="21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-ES" sz="210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Un sistema de gestión empresarial para una pastelería artesanal es una herramienta tecnológica que integra y automatiza los procesos clave de la empresa, desde la recepción de pedidos hasta la emisión de facturas. Su objetivo es mejorar la eficiencia operativa, reducir errores y optimizar la experiencia del cliente al proporcionar información en tiempo real sobre el estado de los pedidos, los niveles de inventario y las finanzas de la empresa.</a:t>
            </a:r>
            <a:endParaRPr b="1" sz="21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d6cd30d308_0_2"/>
          <p:cNvSpPr txBox="1"/>
          <p:nvPr/>
        </p:nvSpPr>
        <p:spPr>
          <a:xfrm>
            <a:off x="568200" y="1249125"/>
            <a:ext cx="11055600" cy="5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Marco Contextual</a:t>
            </a:r>
            <a:endParaRPr b="1" sz="21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Mai Shop, una pastelería artesanal con una creciente demanda de sus productos, enfrenta el desafío de gestionar un volumen cada vez mayor de pedidos y garantizar la calidad de su servicio. La competencia en el sector de la repostería es intensa, lo que exige a Mai Shop diferenciarse a través de una experiencia de cliente excepcional y una gestión eficiente de sus operaciones.</a:t>
            </a:r>
            <a:endParaRPr b="1" sz="21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Marco Metodológico</a:t>
            </a:r>
            <a:endParaRPr b="1" sz="21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Para el desarrollo del sistema se utilizará una metodología ágil, específicamente Scrum, que permitirá una adaptación flexible a los cambios y una rápida entrega de valor. Se emplearán herramientas como Jira para la gestión de tareas y Trello para la visualización del progreso del proyecto. La recolección de requisitos se realizará mediante entrevistas con los usuarios clave y la observación de los procesos actuales. Se realizarán pruebas funcionales y de usabilidad para garantizar la calidad del sistema.</a:t>
            </a:r>
            <a:endParaRPr b="1" sz="21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d6cd30d308_0_14"/>
          <p:cNvSpPr txBox="1"/>
          <p:nvPr/>
        </p:nvSpPr>
        <p:spPr>
          <a:xfrm>
            <a:off x="594750" y="1557550"/>
            <a:ext cx="11002500" cy="50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Marco Legal</a:t>
            </a:r>
            <a:endParaRPr b="1" sz="21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El sistema de gestión de pedidos y facturas de Mai Shop deberá cumplir con las disposiciones de la Ley de Protección de Datos Personales, garantizando la confidencialidad, integridad y disponibilidad de los datos de los clientes. Asimismo, se ajustará a la normativa vigente en materia de facturación electrónica, asegurando la emisión de comprobantes fiscales válidos y su almacenamiento electrónico.</a:t>
            </a:r>
            <a:endParaRPr b="1" sz="21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Marco de Gestión de Cambio</a:t>
            </a:r>
            <a:endParaRPr b="1" sz="21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Visión del cambio: Mai Shop se convertirá en una pastelería de vanguardia, con procesos optimizados y una mayor satisfacción del cliente, gracias a la implementación de un sistema de gestión empresarial que automatizará muchas de las tareas manuales y proporcionará información en tiempo real.</a:t>
            </a:r>
            <a:endParaRPr b="1" sz="21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d6cd30d308_0_31"/>
          <p:cNvSpPr txBox="1"/>
          <p:nvPr/>
        </p:nvSpPr>
        <p:spPr>
          <a:xfrm>
            <a:off x="678450" y="1604075"/>
            <a:ext cx="108351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Análisis del impacto:</a:t>
            </a:r>
            <a:r>
              <a:rPr b="1" lang="es-ES" sz="210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 El departamento de producción y el departamento de ventas serán los más afectados por el cambio, ya que tendrán que adaptarse a nuevos procesos y utilizar el nuevo sistema de manera diaria.</a:t>
            </a:r>
            <a:endParaRPr b="1" sz="21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Plan de comunicación:</a:t>
            </a:r>
            <a:r>
              <a:rPr b="1" lang="es-ES" sz="210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 Se realizarán reuniones informativas con todo el personal, se crearán materiales de comunicación interna (manuales, videos) y se designará un embajador del cambio en cada departamento.</a:t>
            </a:r>
            <a:endParaRPr b="1" sz="21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Capacitación:</a:t>
            </a:r>
            <a:r>
              <a:rPr b="1" lang="es-ES" sz="210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 Se ofrecerán cursos de capacitación presenciales y en línea sobre el uso del nuevo sistema, adaptados a las necesidades de cada perfil profesional.</a:t>
            </a:r>
            <a:endParaRPr b="1" sz="21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0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Resistencia al cambio:</a:t>
            </a:r>
            <a:r>
              <a:rPr b="1" lang="es-ES" sz="210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 Se organizarán sesiones de trabajo en equipo para identificar y abordar las preocupaciones de los empleados, y se ofrecerá un programa de mentoring para aquellos que necesiten más apoyo.</a:t>
            </a:r>
            <a:endParaRPr b="1"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